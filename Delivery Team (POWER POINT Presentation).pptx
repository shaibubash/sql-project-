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7" r:id="rId5"/>
    <p:sldId id="258" r:id="rId6"/>
    <p:sldId id="259" r:id="rId7"/>
    <p:sldId id="260" r:id="rId8"/>
    <p:sldId id="261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Lagos</c:v>
                </c:pt>
                <c:pt idx="1">
                  <c:v>Abuja</c:v>
                </c:pt>
                <c:pt idx="2">
                  <c:v>Port Harcourt</c:v>
                </c:pt>
                <c:pt idx="3">
                  <c:v>Kano</c:v>
                </c:pt>
                <c:pt idx="4">
                  <c:v>Ibadan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148</c:v>
                </c:pt>
                <c:pt idx="1">
                  <c:v>84</c:v>
                </c:pt>
                <c:pt idx="2">
                  <c:v>64</c:v>
                </c:pt>
                <c:pt idx="3">
                  <c:v>56</c:v>
                </c:pt>
                <c:pt idx="4">
                  <c:v>54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7d557ce7-fe46-478a-9575-bab807b78119}"/>
      </c:ext>
    </c:extLst>
  </c:chart>
  <c:txPr>
    <a:bodyPr/>
    <a:lstStyle/>
    <a:p>
      <a:pPr>
        <a:defRPr lang="en-GB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(₦)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Amaka Obi</c:v>
                </c:pt>
                <c:pt idx="1">
                  <c:v>Ngozi Eze</c:v>
                </c:pt>
                <c:pt idx="2">
                  <c:v>Yusuf Abdullahi</c:v>
                </c:pt>
                <c:pt idx="3">
                  <c:v>Ibrahim Musa</c:v>
                </c:pt>
                <c:pt idx="4">
                  <c:v>Chinedu Okafor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6486795</c:v>
                </c:pt>
                <c:pt idx="1">
                  <c:v>6253125</c:v>
                </c:pt>
                <c:pt idx="2">
                  <c:v>5504960</c:v>
                </c:pt>
                <c:pt idx="3">
                  <c:v>4928975</c:v>
                </c:pt>
                <c:pt idx="4">
                  <c:v>4743915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c2dd2d5b-0248-47a9-b3c9-1e4cb87ac25d}"/>
      </c:ext>
    </c:extLst>
  </c:chart>
  <c:txPr>
    <a:bodyPr/>
    <a:lstStyle/>
    <a:p>
      <a:pPr>
        <a:defRPr lang="en-GB" sz="1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delivery days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Lagos</c:v>
                </c:pt>
                <c:pt idx="1">
                  <c:v>Abuja</c:v>
                </c:pt>
                <c:pt idx="2">
                  <c:v>Port Harcourt</c:v>
                </c:pt>
                <c:pt idx="3">
                  <c:v>Kano</c:v>
                </c:pt>
                <c:pt idx="4">
                  <c:v>Ibadan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3.1</c:v>
                </c:pt>
                <c:pt idx="1">
                  <c:v>3.2</c:v>
                </c:pt>
                <c:pt idx="2">
                  <c:v>3.3</c:v>
                </c:pt>
                <c:pt idx="3">
                  <c:v>3.2</c:v>
                </c:pt>
                <c:pt idx="4">
                  <c:v>3.1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a350f2e1-64e7-44b4-8e91-af937b5c93af}"/>
      </c:ext>
    </c:extLst>
  </c:chart>
  <c:txPr>
    <a:bodyPr/>
    <a:lstStyle/>
    <a:p>
      <a:pPr>
        <a:defRPr lang="en-GB" sz="1800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" cy="4389120"/>
          </a:xfrm>
          <a:prstGeom prst="rect">
            <a:avLst/>
          </a:prstGeom>
          <a:solidFill>
            <a:srgbClr val="CD9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051560"/>
            <a:ext cx="10058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DELIVERY &amp; TEAM</a:t>
            </a:r>
            <a:br/>
            <a:r>
              <a:t>PERFORMANCE ANALYSIS</a:t>
            </a:r>
          </a:p>
          <a:p>
            <a:pPr>
              <a:defRPr sz="1800">
                <a:solidFill>
                  <a:srgbClr val="CDD7E1"/>
                </a:solidFill>
              </a:defRPr>
            </a:pPr>
            <a:r>
              <a:t>SQL Data Analytics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069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Presented by SHAIBU BASHIRU</a:t>
            </a:r>
          </a:p>
          <a:p>
            <a:pPr>
              <a:defRPr sz="1300">
                <a:solidFill>
                  <a:srgbClr val="CDD7E1"/>
                </a:solidFill>
              </a:defRPr>
            </a:pPr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684"/>
                </a:solidFill>
              </a:defRPr>
            </a:pPr>
            <a:r>
              <a:t>A management view of sales workload, profitability and delivery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331720" cy="1234440"/>
          </a:xfrm>
          <a:prstGeom prst="roundRect">
            <a:avLst/>
          </a:prstGeom>
          <a:solidFill>
            <a:srgbClr val="F2F5F8"/>
          </a:solidFill>
          <a:ln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2D5F96"/>
                </a:solidFill>
              </a:defRPr>
            </a:pPr>
            <a:r>
              <a:t>406</a:t>
            </a:r>
          </a:p>
          <a:p>
            <a:pPr algn="ctr">
              <a:defRPr sz="1100">
                <a:solidFill>
                  <a:srgbClr val="232B34"/>
                </a:solidFill>
              </a:defRPr>
            </a:pPr>
            <a:r>
              <a:t>Total 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325880"/>
            <a:ext cx="2331720" cy="1234440"/>
          </a:xfrm>
          <a:prstGeom prst="roundRect">
            <a:avLst/>
          </a:prstGeom>
          <a:solidFill>
            <a:srgbClr val="F2F5F8"/>
          </a:solidFill>
          <a:ln>
            <a:solidFill>
              <a:srgbClr val="23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23827D"/>
                </a:solidFill>
              </a:defRPr>
            </a:pPr>
            <a:r>
              <a:t>3.2 days</a:t>
            </a:r>
          </a:p>
          <a:p>
            <a:pPr algn="ctr">
              <a:defRPr sz="1100">
                <a:solidFill>
                  <a:srgbClr val="232B34"/>
                </a:solidFill>
              </a:defRPr>
            </a:pPr>
            <a:r>
              <a:t>Average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325880"/>
            <a:ext cx="2331720" cy="1234440"/>
          </a:xfrm>
          <a:prstGeom prst="roundRect">
            <a:avLst/>
          </a:prstGeom>
          <a:solidFill>
            <a:srgbClr val="F2F5F8"/>
          </a:solidFill>
          <a:ln>
            <a:solidFill>
              <a:srgbClr val="CD9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CD962D"/>
                </a:solidFill>
              </a:defRPr>
            </a:pPr>
            <a:r>
              <a:t>3.0 days</a:t>
            </a:r>
          </a:p>
          <a:p>
            <a:pPr algn="ctr">
              <a:defRPr sz="1100">
                <a:solidFill>
                  <a:srgbClr val="232B34"/>
                </a:solidFill>
              </a:defRPr>
            </a:pPr>
            <a:r>
              <a:t>Median delivery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1325880"/>
            <a:ext cx="2331720" cy="1234440"/>
          </a:xfrm>
          <a:prstGeom prst="roundRect">
            <a:avLst/>
          </a:prstGeom>
          <a:solidFill>
            <a:srgbClr val="F2F5F8"/>
          </a:solidFill>
          <a:ln>
            <a:solidFill>
              <a:srgbClr val="B4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B44646"/>
                </a:solidFill>
              </a:defRPr>
            </a:pPr>
            <a:r>
              <a:t>10 days</a:t>
            </a:r>
          </a:p>
          <a:p>
            <a:pPr algn="ctr">
              <a:defRPr sz="1100">
                <a:solidFill>
                  <a:srgbClr val="232B34"/>
                </a:solidFill>
              </a:defRPr>
            </a:pPr>
            <a:r>
              <a:t>Longest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607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4"/>
                </a:solidFill>
              </a:defRPr>
            </a:pPr>
            <a:r>
              <a:t>Lagos carries the largest order volume, indicating the strongest concentration of operational activity.</a:t>
            </a:r>
          </a:p>
          <a:p>
            <a:pPr>
              <a:spcAft>
                <a:spcPts val="1000"/>
              </a:spcAft>
              <a:defRPr sz="1800">
                <a:solidFill>
                  <a:srgbClr val="232B34"/>
                </a:solidFill>
              </a:defRPr>
            </a:pPr>
            <a:r>
              <a:t>Sales-representative performance varies materially in both order volume and financial contribution.</a:t>
            </a:r>
          </a:p>
          <a:p>
            <a:pPr>
              <a:spcAft>
                <a:spcPts val="1000"/>
              </a:spcAft>
              <a:defRPr sz="1800">
                <a:solidFill>
                  <a:srgbClr val="232B34"/>
                </a:solidFill>
              </a:defRPr>
            </a:pPr>
            <a:r>
              <a:t>Revenue leadership and order-volume leadership are not necessarily held by the same representative.</a:t>
            </a:r>
          </a:p>
          <a:p>
            <a:pPr>
              <a:spcAft>
                <a:spcPts val="1000"/>
              </a:spcAft>
              <a:defRPr sz="1800">
                <a:solidFill>
                  <a:srgbClr val="232B34"/>
                </a:solidFill>
              </a:defRPr>
            </a:pPr>
            <a:r>
              <a:t>Delivery performance is relatively stable overall, but the 1–10 day range shows room to improve consistency.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4"/>
                </a:solidFill>
              </a:defRPr>
            </a:pPr>
            <a:r>
              <a:t>Delivery &amp; Team Performance Analysis  •  SQL Project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WhatsApp Image 2026-10-18 at 16.54.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705"/>
            <a:ext cx="12191365" cy="67525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</a:defRPr>
            </a:pPr>
            <a:r>
              <a:t>Order Distribution by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684"/>
                </a:solidFill>
              </a:defRPr>
            </a:pPr>
            <a:r>
              <a:t>Where the workload is concentrated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234440"/>
          <a:ext cx="67665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18120" y="1417320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</a:defRPr>
            </a:pPr>
            <a:r>
              <a:t>Lagos accounts for 148 orders, well ahead of the other regions.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</a:defRPr>
            </a:pPr>
            <a:r>
              <a:t>Abuja is the second-largest market with 84 orders.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</a:defRPr>
            </a:pPr>
            <a:r>
              <a:t>Port Harcourt, Kano and Ibadan form the next tier of activity.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</a:defRPr>
            </a:pPr>
            <a:r>
              <a:t>Resource planning should reflect the heavier operational demand in Lagos.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4"/>
                </a:solidFill>
              </a:defRPr>
            </a:pPr>
            <a:r>
              <a:t>Delivery &amp; Team Performance Analysis  •  SQL Project                                    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</a:defRPr>
            </a:pPr>
            <a:r>
              <a:t>Sales Representative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684"/>
                </a:solidFill>
              </a:defRPr>
            </a:pPr>
            <a:r>
              <a:t>Order volume and revenue leadership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234440"/>
          <a:ext cx="649224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0" y="1325880"/>
            <a:ext cx="4251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</a:defRPr>
            </a:pPr>
            <a:r>
              <a:t>Amaka Obi leads revenue at approximately ₦6.49m.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</a:defRPr>
            </a:pPr>
            <a:r>
              <a:t>Ngozi Eze handles the highest order volume at 84 orders.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</a:defRPr>
            </a:pPr>
            <a:r>
              <a:t>This distinction shows why volume alone is not enough to evaluate sales performance.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</a:defRPr>
            </a:pPr>
            <a:r>
              <a:t>Management should assess both commercial value and workload when comparing representatives.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4"/>
                </a:solidFill>
              </a:defRPr>
            </a:pPr>
            <a:r>
              <a:t>Delivery &amp; Team Performance Analysis  •  SQL Project                                    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</a:defRPr>
            </a:pPr>
            <a:r>
              <a:t>Delivery Performance by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684"/>
                </a:solidFill>
              </a:defRPr>
            </a:pPr>
            <a:r>
              <a:t>Average delivery time across operating markets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234440"/>
          <a:ext cx="67665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18120" y="1417320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</a:defRPr>
            </a:pPr>
            <a:r>
              <a:t>Average delivery times are tightly grouped around 3 days.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</a:defRPr>
            </a:pPr>
            <a:r>
              <a:t>Port Harcourt is marginally slower at 3.3 days.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</a:defRPr>
            </a:pPr>
            <a:r>
              <a:t>Lagos and Ibadan record the lowest regional averages at about 3.1 days.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</a:defRPr>
            </a:pPr>
            <a:r>
              <a:t>The small spread suggests a broadly consistent delivery process across regions.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4"/>
                </a:solidFill>
              </a:defRPr>
            </a:pPr>
            <a:r>
              <a:t>Delivery &amp; Team Performance Analysis  •  SQL Project                                    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</a:defRPr>
            </a:pPr>
            <a:r>
              <a:t>Delivery 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684"/>
                </a:solidFill>
              </a:defRPr>
            </a:pPr>
            <a:r>
              <a:t>Speed versus predictability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423160" cy="1325880"/>
          </a:xfrm>
          <a:prstGeom prst="roundRect">
            <a:avLst/>
          </a:prstGeom>
          <a:solidFill>
            <a:srgbClr val="F2F5F8"/>
          </a:solidFill>
          <a:ln>
            <a:solidFill>
              <a:srgbClr val="23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23827D"/>
                </a:solidFill>
              </a:defRPr>
            </a:pPr>
            <a:r>
              <a:t>1 day</a:t>
            </a:r>
          </a:p>
          <a:p>
            <a:pPr algn="ctr">
              <a:defRPr sz="1100">
                <a:solidFill>
                  <a:srgbClr val="232B34"/>
                </a:solidFill>
              </a:defRPr>
            </a:pPr>
            <a:r>
              <a:t>Minimum delivery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280160"/>
            <a:ext cx="2423160" cy="1325880"/>
          </a:xfrm>
          <a:prstGeom prst="roundRect">
            <a:avLst/>
          </a:prstGeom>
          <a:solidFill>
            <a:srgbClr val="F2F5F8"/>
          </a:solidFill>
          <a:ln>
            <a:solidFill>
              <a:srgbClr val="B4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B44646"/>
                </a:solidFill>
              </a:defRPr>
            </a:pPr>
            <a:r>
              <a:t>10 days</a:t>
            </a:r>
          </a:p>
          <a:p>
            <a:pPr algn="ctr">
              <a:defRPr sz="1100">
                <a:solidFill>
                  <a:srgbClr val="232B34"/>
                </a:solidFill>
              </a:defRPr>
            </a:pPr>
            <a:r>
              <a:t>Maximum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2423160" cy="1325880"/>
          </a:xfrm>
          <a:prstGeom prst="roundRect">
            <a:avLst/>
          </a:prstGeom>
          <a:solidFill>
            <a:srgbClr val="F2F5F8"/>
          </a:solidFill>
          <a:ln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2D5F96"/>
                </a:solidFill>
              </a:defRPr>
            </a:pPr>
            <a:r>
              <a:t>3.2 days</a:t>
            </a:r>
          </a:p>
          <a:p>
            <a:pPr algn="ctr">
              <a:defRPr sz="1100">
                <a:solidFill>
                  <a:srgbClr val="232B34"/>
                </a:solidFill>
              </a:defRPr>
            </a:pPr>
            <a:r>
              <a:t>Mean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280160"/>
            <a:ext cx="2423160" cy="1325880"/>
          </a:xfrm>
          <a:prstGeom prst="roundRect">
            <a:avLst/>
          </a:prstGeom>
          <a:solidFill>
            <a:srgbClr val="F2F5F8"/>
          </a:solidFill>
          <a:ln>
            <a:solidFill>
              <a:srgbClr val="CD9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CD962D"/>
                </a:solidFill>
              </a:defRPr>
            </a:pPr>
            <a:r>
              <a:t>3.0 days</a:t>
            </a:r>
          </a:p>
          <a:p>
            <a:pPr algn="ctr">
              <a:defRPr sz="1100">
                <a:solidFill>
                  <a:srgbClr val="232B34"/>
                </a:solidFill>
              </a:defRPr>
            </a:pPr>
            <a:r>
              <a:t>Median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4"/>
                </a:solidFill>
              </a:defRPr>
            </a:pPr>
            <a:r>
              <a:t>The mean and median are close, indicating that the typical delivery experience is around three days.</a:t>
            </a:r>
          </a:p>
          <a:p>
            <a:pPr>
              <a:spcAft>
                <a:spcPts val="1000"/>
              </a:spcAft>
              <a:defRPr sz="1800">
                <a:solidFill>
                  <a:srgbClr val="232B34"/>
                </a:solidFill>
              </a:defRPr>
            </a:pPr>
            <a:r>
              <a:t>The 1–10 day range indicates that some orders take substantially longer than the norm.</a:t>
            </a:r>
          </a:p>
          <a:p>
            <a:pPr>
              <a:spcAft>
                <a:spcPts val="1000"/>
              </a:spcAft>
              <a:defRPr sz="1800">
                <a:solidFill>
                  <a:srgbClr val="232B34"/>
                </a:solidFill>
              </a:defRPr>
            </a:pPr>
            <a:r>
              <a:t>The management priority should be reducing long-tail delays without sacrificing the current average performance.</a:t>
            </a:r>
          </a:p>
          <a:p>
            <a:pPr>
              <a:spcAft>
                <a:spcPts val="1000"/>
              </a:spcAft>
              <a:defRPr sz="1800">
                <a:solidFill>
                  <a:srgbClr val="232B34"/>
                </a:solidFill>
              </a:defRPr>
            </a:pPr>
            <a:r>
              <a:t>Track delivery variation by representative and region to identify operational causes.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4"/>
                </a:solidFill>
              </a:defRPr>
            </a:pPr>
            <a:r>
              <a:t>Delivery &amp; Team Performance Analysis  •  SQL Project                                    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684"/>
                </a:solidFill>
              </a:defRPr>
            </a:pPr>
            <a:r>
              <a:t>What the analysis tells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822960" cy="731520"/>
          </a:xfrm>
          <a:prstGeom prst="roundRect">
            <a:avLst/>
          </a:prstGeom>
          <a:solidFill>
            <a:srgbClr val="F2F5F8"/>
          </a:solidFill>
          <a:ln>
            <a:solidFill>
              <a:srgbClr val="CD9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CD962D"/>
                </a:solidFill>
              </a:defRPr>
            </a:pPr>
            <a:r>
              <a:t>01</a:t>
            </a:r>
          </a:p>
          <a:p>
            <a:pPr algn="ctr">
              <a:defRPr sz="1100">
                <a:solidFill>
                  <a:srgbClr val="232B34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828800" y="1307592"/>
            <a:ext cx="9418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42337"/>
                </a:solidFill>
              </a:defRPr>
            </a:pPr>
            <a:r>
              <a:t>Workload concentration</a:t>
            </a:r>
          </a:p>
          <a:p>
            <a:pPr>
              <a:defRPr sz="1300">
                <a:solidFill>
                  <a:srgbClr val="697684"/>
                </a:solidFill>
              </a:defRPr>
            </a:pPr>
            <a:r>
              <a:t>Lagos is the dominant region by order volume.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96312"/>
            <a:ext cx="822960" cy="731520"/>
          </a:xfrm>
          <a:prstGeom prst="roundRect">
            <a:avLst/>
          </a:prstGeom>
          <a:solidFill>
            <a:srgbClr val="F2F5F8"/>
          </a:solidFill>
          <a:ln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2D5F96"/>
                </a:solidFill>
              </a:defRPr>
            </a:pPr>
            <a:r>
              <a:t>02</a:t>
            </a:r>
          </a:p>
          <a:p>
            <a:pPr algn="ctr">
              <a:defRPr sz="1100">
                <a:solidFill>
                  <a:srgbClr val="232B34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828800" y="2478024"/>
            <a:ext cx="9418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42337"/>
                </a:solidFill>
              </a:defRPr>
            </a:pPr>
            <a:r>
              <a:t>Revenue leadership</a:t>
            </a:r>
          </a:p>
          <a:p>
            <a:pPr>
              <a:defRPr sz="1300">
                <a:solidFill>
                  <a:srgbClr val="697684"/>
                </a:solidFill>
              </a:defRPr>
            </a:pPr>
            <a:r>
              <a:t>Amaka Obi leads revenue, while Ngozi Eze leads order volume.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666744"/>
            <a:ext cx="822960" cy="731520"/>
          </a:xfrm>
          <a:prstGeom prst="roundRect">
            <a:avLst/>
          </a:prstGeom>
          <a:solidFill>
            <a:srgbClr val="F2F5F8"/>
          </a:solidFill>
          <a:ln>
            <a:solidFill>
              <a:srgbClr val="CD9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CD962D"/>
                </a:solidFill>
              </a:defRPr>
            </a:pPr>
            <a:r>
              <a:t>03</a:t>
            </a:r>
          </a:p>
          <a:p>
            <a:pPr algn="ctr">
              <a:defRPr sz="1100">
                <a:solidFill>
                  <a:srgbClr val="232B34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828800" y="3648456"/>
            <a:ext cx="9418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42337"/>
                </a:solidFill>
              </a:defRPr>
            </a:pPr>
            <a:r>
              <a:t>Delivery stability</a:t>
            </a:r>
          </a:p>
          <a:p>
            <a:pPr>
              <a:defRPr sz="1300">
                <a:solidFill>
                  <a:srgbClr val="697684"/>
                </a:solidFill>
              </a:defRPr>
            </a:pPr>
            <a:r>
              <a:t>Typical delivery performance is around three days.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837176"/>
            <a:ext cx="822960" cy="731520"/>
          </a:xfrm>
          <a:prstGeom prst="roundRect">
            <a:avLst/>
          </a:prstGeom>
          <a:solidFill>
            <a:srgbClr val="F2F5F8"/>
          </a:solidFill>
          <a:ln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2D5F96"/>
                </a:solidFill>
              </a:defRPr>
            </a:pPr>
            <a:r>
              <a:t>04</a:t>
            </a:r>
          </a:p>
          <a:p>
            <a:pPr algn="ctr">
              <a:defRPr sz="1100">
                <a:solidFill>
                  <a:srgbClr val="232B34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828800" y="4818888"/>
            <a:ext cx="9418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42337"/>
                </a:solidFill>
              </a:defRPr>
            </a:pPr>
            <a:r>
              <a:t>Operational risk</a:t>
            </a:r>
          </a:p>
          <a:p>
            <a:pPr>
              <a:defRPr sz="1300">
                <a:solidFill>
                  <a:srgbClr val="697684"/>
                </a:solidFill>
              </a:defRPr>
            </a:pPr>
            <a:r>
              <a:t>The 1–10 day delivery range points to a long-tail delay problem.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4"/>
                </a:solidFill>
              </a:defRPr>
            </a:pPr>
            <a:r>
              <a:t>Delivery &amp; Team Performance Analysis  •  SQL Project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</a:defRPr>
            </a:pPr>
            <a:r>
              <a:t>Management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684"/>
                </a:solidFill>
              </a:defRPr>
            </a:pPr>
            <a:r>
              <a:t>Actions linked directly to the findings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280160"/>
            <a:ext cx="566928" cy="566928"/>
          </a:xfrm>
          <a:prstGeom prst="ellipse">
            <a:avLst/>
          </a:prstGeom>
          <a:solidFill>
            <a:srgbClr val="CD9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252728"/>
            <a:ext cx="9692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7"/>
                </a:solidFill>
              </a:defRPr>
            </a:pPr>
            <a:r>
              <a:t>Prioritise regional capacity</a:t>
            </a:r>
          </a:p>
          <a:p>
            <a:pPr>
              <a:defRPr sz="1200">
                <a:solidFill>
                  <a:srgbClr val="232B34"/>
                </a:solidFill>
              </a:defRPr>
            </a:pPr>
            <a:r>
              <a:t>Align delivery resources and stock availability with high-volume markets, especially Lagos.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CD9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395728"/>
            <a:ext cx="9692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7"/>
                </a:solidFill>
              </a:defRPr>
            </a:pPr>
            <a:r>
              <a:t>Balance volume and value</a:t>
            </a:r>
          </a:p>
          <a:p>
            <a:pPr>
              <a:defRPr sz="1200">
                <a:solidFill>
                  <a:srgbClr val="232B34"/>
                </a:solidFill>
              </a:defRPr>
            </a:pPr>
            <a:r>
              <a:t>Evaluate representatives using both order volume and revenue/profit contribution.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566160"/>
            <a:ext cx="566928" cy="566928"/>
          </a:xfrm>
          <a:prstGeom prst="ellipse">
            <a:avLst/>
          </a:prstGeom>
          <a:solidFill>
            <a:srgbClr val="CD9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538728"/>
            <a:ext cx="9692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7"/>
                </a:solidFill>
              </a:defRPr>
            </a:pPr>
            <a:r>
              <a:t>Investigate long-tail delays</a:t>
            </a:r>
          </a:p>
          <a:p>
            <a:pPr>
              <a:defRPr sz="1200">
                <a:solidFill>
                  <a:srgbClr val="232B34"/>
                </a:solidFill>
              </a:defRPr>
            </a:pPr>
            <a:r>
              <a:t>Review the causes of 7–10 day deliveries and establish corrective actions.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709160"/>
            <a:ext cx="566928" cy="566928"/>
          </a:xfrm>
          <a:prstGeom prst="ellipse">
            <a:avLst/>
          </a:prstGeom>
          <a:solidFill>
            <a:srgbClr val="CD9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681728"/>
            <a:ext cx="9692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7"/>
                </a:solidFill>
              </a:defRPr>
            </a:pPr>
            <a:r>
              <a:t>Monitor mix performance</a:t>
            </a:r>
          </a:p>
          <a:p>
            <a:pPr>
              <a:defRPr sz="1200">
                <a:solidFill>
                  <a:srgbClr val="232B34"/>
                </a:solidFill>
              </a:defRPr>
            </a:pPr>
            <a:r>
              <a:t>Track representative performance by segment and category to identify profitable growth opportunities.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4"/>
                </a:solidFill>
              </a:defRPr>
            </a:pPr>
            <a:r>
              <a:t>Delivery &amp; Team Performance Analysis  •  SQL Project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  <a:p>
            <a:pPr>
              <a:defRPr sz="2000">
                <a:solidFill>
                  <a:srgbClr val="D7E1EB"/>
                </a:solidFill>
              </a:defRPr>
            </a:pPr>
            <a:r>
              <a:t>The analysis provides a practical view of sales workload, commercial contribution and delivery performance.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2412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CD962D"/>
                </a:solidFill>
              </a:defRPr>
            </a:pPr>
            <a:r>
              <a:t>Thank you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3824</Words>
  <Application>WPS Presentation</Application>
  <PresentationFormat>On-screen Show (4:3)</PresentationFormat>
  <Paragraphs>147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Admin</cp:lastModifiedBy>
  <cp:revision>3</cp:revision>
  <dcterms:created xsi:type="dcterms:W3CDTF">2013-01-27T09:14:00Z</dcterms:created>
  <dcterms:modified xsi:type="dcterms:W3CDTF">2026-10-18T15:59:11Z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62D654E79B1E4DB683517129331C7A12_12</vt:lpwstr>
  </property>
  <property fmtid="{D5CDD505-2E9C-101B-9397-08002B2CF9AE}" pid="3" name="KSOProductBuildVer">
    <vt:lpwstr>2057-12.2.0.23206</vt:lpwstr>
  </property>
</Properties>
</file>